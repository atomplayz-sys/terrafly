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858baaab13493b" /><Relationship Type="http://schemas.openxmlformats.org/officeDocument/2006/relationships/extended-properties" Target="/docProps/app.xml" Id="R00436ffbc036432f" /><Relationship Type="http://schemas.openxmlformats.org/officeDocument/2006/relationships/officeDocument" Target="/ppt/presentation.xml" Id="R38c13028483b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c198270154460b"/>
  </p:sldMasterIdLst>
  <p:notesMasterIdLst>
    <p:notesMasterId xmlns:r="http://schemas.openxmlformats.org/officeDocument/2006/relationships" r:id="R2e409842f45f48c5"/>
  </p:notesMasterIdLst>
  <p:sldIdLst>
    <p:sldId xmlns:r="http://schemas.openxmlformats.org/officeDocument/2006/relationships" id="256" r:id="R2067f26a3347471d"/>
    <p:sldId xmlns:r="http://schemas.openxmlformats.org/officeDocument/2006/relationships" id="257" r:id="Rc0b8842c11954459"/>
    <p:sldId xmlns:r="http://schemas.openxmlformats.org/officeDocument/2006/relationships" id="258" r:id="Rdd13761dc9544fd2"/>
    <p:sldId xmlns:r="http://schemas.openxmlformats.org/officeDocument/2006/relationships" id="259" r:id="R8ca4985c885d45f9"/>
    <p:sldId xmlns:r="http://schemas.openxmlformats.org/officeDocument/2006/relationships" id="260" r:id="R12cfae6954f3413d"/>
    <p:sldId xmlns:r="http://schemas.openxmlformats.org/officeDocument/2006/relationships" id="261" r:id="Rd50b9ff8c9074e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7db5b4f82b4362" /><Relationship Type="http://schemas.openxmlformats.org/officeDocument/2006/relationships/slideMaster" Target="/ppt/slideMasters/slideMaster1.xml" Id="Rb1c198270154460b" /><Relationship Type="http://schemas.openxmlformats.org/officeDocument/2006/relationships/notesMaster" Target="/ppt/notesMasters/notesMaster1.xml" Id="R2e409842f45f48c5" /><Relationship Type="http://schemas.openxmlformats.org/officeDocument/2006/relationships/presProps" Target="/ppt/presProps.xml" Id="R14ebe3e59aba493a" /><Relationship Type="http://schemas.openxmlformats.org/officeDocument/2006/relationships/viewProps" Target="/ppt/viewProps.xml" Id="R7f2dae33661b4faf" /><Relationship Type="http://schemas.openxmlformats.org/officeDocument/2006/relationships/tableStyles" Target="/ppt/tableStyles.xml" Id="R31d3842fdb3f4148" /><Relationship Type="http://schemas.openxmlformats.org/officeDocument/2006/relationships/slide" Target="/ppt/slides/slide1.xml" Id="R2067f26a3347471d" /><Relationship Type="http://schemas.openxmlformats.org/officeDocument/2006/relationships/slide" Target="/ppt/slides/slide2.xml" Id="Rc0b8842c11954459" /><Relationship Type="http://schemas.openxmlformats.org/officeDocument/2006/relationships/slide" Target="/ppt/slides/slide3.xml" Id="Rdd13761dc9544fd2" /><Relationship Type="http://schemas.openxmlformats.org/officeDocument/2006/relationships/slide" Target="/ppt/slides/slide4.xml" Id="R8ca4985c885d45f9" /><Relationship Type="http://schemas.openxmlformats.org/officeDocument/2006/relationships/slide" Target="/ppt/slides/slide5.xml" Id="R12cfae6954f3413d" /><Relationship Type="http://schemas.openxmlformats.org/officeDocument/2006/relationships/slide" Target="/ppt/slides/slide6.xml" Id="Rd50b9ff8c9074e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d7721520ef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0dbec6223a49a0" /><Relationship Type="http://schemas.openxmlformats.org/officeDocument/2006/relationships/notesMaster" Target="/ppt/notesMasters/notesMaster1.xml" Id="Rc5c37789a1b641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45e7779c2d4f0b" /><Relationship Type="http://schemas.openxmlformats.org/officeDocument/2006/relationships/notesMaster" Target="/ppt/notesMasters/notesMaster1.xml" Id="R2d965d62977341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fdd1059a0b4be2" /><Relationship Type="http://schemas.openxmlformats.org/officeDocument/2006/relationships/notesMaster" Target="/ppt/notesMasters/notesMaster1.xml" Id="Ra5db3a7432cd45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ea09c81a1f49be" /><Relationship Type="http://schemas.openxmlformats.org/officeDocument/2006/relationships/notesMaster" Target="/ppt/notesMasters/notesMaster1.xml" Id="R124cda3190b94a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15923b0a74a04" /><Relationship Type="http://schemas.openxmlformats.org/officeDocument/2006/relationships/notesMaster" Target="/ppt/notesMasters/notesMaster1.xml" Id="R46a74dc1a6a741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5d119f73f04542" /><Relationship Type="http://schemas.openxmlformats.org/officeDocument/2006/relationships/notesMaster" Target="/ppt/notesMasters/notesMaster1.xml" Id="R5f63c0ebb4834f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/ CORE DEVELOPER — 35 to 45 seconds</a:t>
            </a:r>
          </a:p>
          <a:p xmlns:a="http://schemas.openxmlformats.org/drawingml/2006/main">
            <a:r>
              <a:t>Good morning. We are Team TerraFly, working on ISRO problem statement SIH26175.</a:t>
            </a:r>
          </a:p>
          <a:p xmlns:a="http://schemas.openxmlformats.org/drawingml/2006/main">
            <a:r>
              <a:t>The problem is simple to state: one optical image shows colour, but decision-makers need shape, height and an explorable 3D view.</a:t>
            </a:r>
          </a:p>
          <a:p xmlns:a="http://schemas.openxmlformats.org/drawingml/2006/main">
            <a:r>
              <a:t>Our promise is equally simple: TerraFly produces relative 3D from one image, and uses metre labels only after valid calibration. It runs locally and leaves an evidence trail.</a:t>
            </a:r>
          </a:p>
          <a:p xmlns:a="http://schemas.openxmlformats.org/drawingml/2006/main">
            <a:r>
              <a:t>HANDOFF: Saman will first show why this gap matters and what the user receives.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C:/Users/USER/Downloads/SIH 2026 Official PS.xlsx — PS 26175</a:t>
            </a:r>
          </a:p>
          <a:p xmlns:a="http://schemas.openxmlformats.org/drawingml/2006/main">
            <a:r>
              <a:t>- https://github.com/IMG-PROCESS-SAC/SIH-DepthWizard-2026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SAMAN / RESEARCH &amp; PRESENTATION — 55 to 65 seconds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A single optical RGB image contains appearance, not directly measured height. That is why TerraFly has two honest modes.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For an ordinary PNG or JPG, the output is a relative surface: which region is higher or lower. For a georeferenced image with a valid anchor such as SRTM, GCPs or a reference DEM, TerraFly fits scale and offset and can report a metric DSM.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same run creates an interactive textured scene, analysis tools and reusable outputs. The visual on this slide is a concept illustration; our live application will supply the real evidence.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HANDOFF: Om will now explain exactly what happens after the user presses Generate.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C:/Users/USER/Downloads/SIH 2026 Official PS.xlsx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https://github.com/IMG-PROCESS-SAC/SIH-DepthWizard-2026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Image generated with built-in ImageGen as a labelled concept visualization; it is not presented as model output.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OM / ML &amp; BACKEND — 65 to 75 seconds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First we reject unsupported inputs and preserve geospatial metadata. Then a lightweight monocular depth model estimates a relative surface in tiles so an 8 GB GPU can handle larger images.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Calibration is a separate, visible step: we fit scale and offset against aligned reference elevations and report residual error. No successful calibration means no metre label.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Rasterio writes the geospatial output; Three.js builds the textured height-field and flythrough. Every job records units, model/checkpoint, calibration method, warnings and hashes.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CUDA simply means the NVIDIA GPU can accelerate model calculations. If it fails or runs out of memory, TerraFly reduces tile size or uses CPU fallback.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HANDOFF: Our validation member will show how we prove both accuracy and product quality.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https://depth-anything-v2.github.io/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https://github.com/DepthAnything/Depth-Anything-V2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https://rasterio.readthedocs.io/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MEMBER 5 / QA &amp; VALIDATION — 55 to 65 seconds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official evaluation is not only whether a 3D scene looks impressive. Half is numerical surface accuracy; half is visualization quality and usability.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We therefore test aligned reference data with RMSE, MAE and correlation across four landscape types. We also show calibration residuals and one bad-input case, because a system that knows when not to claim certainty is more trustworthy.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For product quality we demonstrate camera controls, inspection, exports, offline restart and recovery on our actual 8 GB machine.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Do not place a number in the presentation until the saved evaluation report proves it.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HANDOFF: Our deployment member will connect this proof to the India and public-sector use case.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C:/Users/USER/Downloads/SIH 2026 Official PS.xlsx — evaluation criteria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MEMBER 6 / GEOSPATIAL &amp; DEPLOYMENT — 55 to 65 seconds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We should not tell judges that India bans high-quality Google Earth imagery. That is too broad and may be wrong. Detailed 3D depends on satellite and aerial collection, local rules and permissions, licensing, processing priorities and provider coverage.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India's geospatial reforms encourage innovation while maintaining rules for sensitive attributes and high-accuracy data. TerraFly's contribution is not bypassing those rules; it is processing authorized imagery locally and recording how outputs were produced.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outcome is fast first-look terrain understanding for disaster, planning and infrastructure workflows. We position this as potential integration for authorized ISRO/NRSC workflows—not as an adopted ISRO product.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HANDOFF: Parth will close with the exact proof package and then we will run the demo.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https://support.google.com/earth/answer/6327779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https://dst.gov.in/sites/default/files/Final%20Approved%20Guidelines%20on%20Geospatial%20Data.pdf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https://dst.gov.in/sites/default/files/National%20Geospatial%20Policy.pdf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https://www.isro.gov.in/DisasterManagementSupport.html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PARTH / FEASIBILITY, CLOSE &amp; Q&amp;A COORDINATION — 40 to 50 seconds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Winning teams repeatedly describe the same pattern: understand the problem, show a real MVP, speak visually, validate with users or data and make every member answer for their work.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Our evidence pack therefore contains numerical accuracy, calibration residuals, landscape tests, runtime/VRAM logs and reproducible job manifests.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CLOSE: We are not asking you to trust a promise. We will now run TerraFly locally with the network disconnected and show both a successful result and how it handles an invalid case.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DEMO HANDOFF: The team lead narrates while Om operates the application. One speaker, one operator; no laptop handoff.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https://medium.com/@harshitamaheshwari321/i-won-smart-india-hackathon-2025-heres-what-actually-happens-behind-the-scenes-96198ae391b1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https://www.reddit.com/r/Indian_Academia/comments/1uz483r/how_we_got_shortlisted_for_the_smart_india/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https://lbrce.ac.in/committees/ciie_committee/ciie_achievements/2024-25/SIH%20FINAL%20REPORT.pdf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https://sittechno.org/userfiles/file/events/Internal%20Hackathon%20Report%20SIH%202024%20SIT%20Siliguri.pdf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c9a348b1149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789de884a49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8ce5f5a4c42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fbb6043264b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3797e64a647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c5e2b5f67489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97dece60942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bf3750ed741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41ddeb28c46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35c44800a4b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bf7f7b1474c3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A1B060-6940-486D-BB5B-2F8AC37689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341961-8EC8-4566-8B78-CBA66B2219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F4BFEA-9C83-4452-A8DB-3A781FF451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6/26/2025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DAE338-6335-4A59-B25B-E32FD12D90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AC0B82-B096-490A-8189-40D909316A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A8B3CD-C664-4DF2-B289-2DEED7E9E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D3A910-1DF9-4CED-8417-C0E8559DF8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8FFD99-182D-46AE-B39F-5D170BC553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6/26/2025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42FA60-69B7-4F8A-8DED-7A7687D81F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18FDD1-19FF-465F-A249-B18E7E2FE6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7306AB-7306-4F54-94D2-AABE90A5B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210077-C5B0-4D3C-A7BC-EB9F25C4F7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1552BF-5E35-4794-A6B0-ED9FCAD7EE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6/26/2025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B86B15-1474-44D7-8B69-1F11D98D1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0EF607-7A19-400F-BFC4-2E51E9C28B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C06BF5-0AD4-45CF-A1D7-B540C22BA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4276C0-991A-4153-A08D-F769C2067A7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79FFD9D-F2AF-42AE-AA7C-5D62EEDBA8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AF5615-3CEC-412D-8F7A-F3871D52B3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6/26/2025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76AAE7-09BD-448D-992C-86655E8AAA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AF5F26-DA91-4481-A41C-F9AE4D41EA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401CF3-8749-4AEE-8347-324F8AC67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A3B3A2-A525-4436-99AE-AE4F358D0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D52E173-C4C2-4452-AA10-7640BD6B39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A1D174C-997F-49F8-A38F-CB8F37BC9F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AC9BE2D-BADD-478D-9EF8-7CEF9DB0DB9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6930E8-2A04-4914-A18C-DEEBDE2CE0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6/26/2025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FBEA5D-8D52-4A4D-B19B-95A17D1A80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59266A-C5E0-4650-B792-AEB93B949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BB316-9A82-477C-BE7D-F1C6D07DA9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6F87FC-07DC-44D2-BE4C-297247683A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6/26/2025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C8E4D3-FDB9-4C96-B755-D2CD5CB7C9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120702-D332-41B9-8FBE-532464A502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FA99A1-ADEC-40EA-A998-EE3E1E1E55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6/26/2025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49C131-8FB7-4C0E-AD9F-B345516A03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7E7B8F-39F9-42FA-AF05-2EFE47274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FCA69B-FABA-46F5-897D-34FE1C6A3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52EB0-A311-478D-9542-2B42C2F895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F63B114-0B82-439A-BB9E-68881DEBE6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2AFE7C-54A1-4F66-B5BB-077F087FC0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6/26/2025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F35A99-2E21-4E31-B118-EA13B23898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D32F4E-94DB-4616-83BD-95643F2E3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3330F9-8D94-4042-AFC4-2C90CEA15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AA665A8-3A12-4F11-AFF1-F1A26E32F0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CFD634-1E52-4A3C-80AC-D8279FE6BD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14BD07-4A59-44C2-89BB-1A1F2B334B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6/26/2025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3E5E03-FA24-4D64-BD31-8F15A3D1B1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F101BF-A9CA-44F1-82E2-D3B6AD2B09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44A2A7-9876-47D4-B060-5EFB0BB6F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C87162-92B7-4BE2-912B-E4356C405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02B453-0315-4256-9AE7-9B8A79EB6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6/26/2025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6C68DE-5F48-4A77-8BE4-F1757711B7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50F1E0-9F9A-49C0-8111-06BF1ABFD4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C433F35-69EB-4205-A763-B241F44204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AB65C6-2A85-4419-AF6D-385CC2FEF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CF762C-816B-4A82-BC4B-37B8FB9417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6/26/2025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B8E959-31EB-4CDB-A145-3E971D17FB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E788B9-792A-4E83-8BE2-73267544FC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2d682e6b4414a" /><Relationship Type="http://schemas.openxmlformats.org/officeDocument/2006/relationships/slideLayout" Target="/ppt/slideLayouts/slideLayout1.xml" Id="R4fc920a098c349a0" /><Relationship Type="http://schemas.openxmlformats.org/officeDocument/2006/relationships/slideLayout" Target="/ppt/slideLayouts/slideLayout2.xml" Id="R32f5fc0c93694a4a" /><Relationship Type="http://schemas.openxmlformats.org/officeDocument/2006/relationships/slideLayout" Target="/ppt/slideLayouts/slideLayout3.xml" Id="Rd0b1b22150144715" /><Relationship Type="http://schemas.openxmlformats.org/officeDocument/2006/relationships/slideLayout" Target="/ppt/slideLayouts/slideLayout4.xml" Id="R915fcc9ccd924b34" /><Relationship Type="http://schemas.openxmlformats.org/officeDocument/2006/relationships/slideLayout" Target="/ppt/slideLayouts/slideLayout5.xml" Id="R96c62665ef844562" /><Relationship Type="http://schemas.openxmlformats.org/officeDocument/2006/relationships/slideLayout" Target="/ppt/slideLayouts/slideLayout6.xml" Id="R20b9bc78075b4400" /><Relationship Type="http://schemas.openxmlformats.org/officeDocument/2006/relationships/slideLayout" Target="/ppt/slideLayouts/slideLayout7.xml" Id="R8c76c577f43e469f" /><Relationship Type="http://schemas.openxmlformats.org/officeDocument/2006/relationships/slideLayout" Target="/ppt/slideLayouts/slideLayout8.xml" Id="R86e40b379a714b16" /><Relationship Type="http://schemas.openxmlformats.org/officeDocument/2006/relationships/slideLayout" Target="/ppt/slideLayouts/slideLayout9.xml" Id="R0af694bbd36742dd" /><Relationship Type="http://schemas.openxmlformats.org/officeDocument/2006/relationships/slideLayout" Target="/ppt/slideLayouts/slideLayout10.xml" Id="R1c7256b2c61840ec" /><Relationship Type="http://schemas.openxmlformats.org/officeDocument/2006/relationships/slideLayout" Target="/ppt/slideLayouts/slideLayout11.xml" Id="Rad613a7b956b42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89E2BF-CB19-4CE4-B0A6-937A214464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587741-FBBB-45C1-A911-E4757B66A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374C0D-29E5-4420-A14A-EA96C1A1A58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6/26/2025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D24F44-A027-4EEA-924D-D7C15375CAD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BBF2CD-D8F9-432C-8FC8-E8564E59246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c920a098c349a0"/>
    <p:sldLayoutId xmlns:r="http://schemas.openxmlformats.org/officeDocument/2006/relationships" id="2147483650" r:id="R32f5fc0c93694a4a"/>
    <p:sldLayoutId xmlns:r="http://schemas.openxmlformats.org/officeDocument/2006/relationships" id="2147483651" r:id="Rd0b1b22150144715"/>
    <p:sldLayoutId xmlns:r="http://schemas.openxmlformats.org/officeDocument/2006/relationships" id="2147483652" r:id="R915fcc9ccd924b34"/>
    <p:sldLayoutId xmlns:r="http://schemas.openxmlformats.org/officeDocument/2006/relationships" id="2147483653" r:id="R96c62665ef844562"/>
    <p:sldLayoutId xmlns:r="http://schemas.openxmlformats.org/officeDocument/2006/relationships" id="2147483654" r:id="R20b9bc78075b4400"/>
    <p:sldLayoutId xmlns:r="http://schemas.openxmlformats.org/officeDocument/2006/relationships" id="2147483655" r:id="R8c76c577f43e469f"/>
    <p:sldLayoutId xmlns:r="http://schemas.openxmlformats.org/officeDocument/2006/relationships" id="2147483656" r:id="R86e40b379a714b16"/>
    <p:sldLayoutId xmlns:r="http://schemas.openxmlformats.org/officeDocument/2006/relationships" id="2147483657" r:id="R0af694bbd36742dd"/>
    <p:sldLayoutId xmlns:r="http://schemas.openxmlformats.org/officeDocument/2006/relationships" id="2147483658" r:id="R1c7256b2c61840ec"/>
    <p:sldLayoutId xmlns:r="http://schemas.openxmlformats.org/officeDocument/2006/relationships" id="2147483659" r:id="Rad613a7b956b4278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25dfe04b244e9" /><Relationship Type="http://schemas.openxmlformats.org/officeDocument/2006/relationships/image" Target="/ppt/media/image.png" Id="R48f20bbdd0a04fc0" /><Relationship Type="http://schemas.openxmlformats.org/officeDocument/2006/relationships/image" Target="/ppt/media/image2.png" Id="Rcf9ae129e0ec4bb0" /><Relationship Type="http://schemas.openxmlformats.org/officeDocument/2006/relationships/notesSlide" Target="/ppt/notesSlides/notesSlide1.xml" Id="R74fa71fc18c243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70f85ecdb1444a" /><Relationship Type="http://schemas.openxmlformats.org/officeDocument/2006/relationships/image" Target="/ppt/media/image3.png" Id="R4dcc4258bae94db6" /><Relationship Type="http://schemas.openxmlformats.org/officeDocument/2006/relationships/image" Target="/ppt/media/image4.png" Id="R1ae0a90d7f5744fe" /><Relationship Type="http://schemas.openxmlformats.org/officeDocument/2006/relationships/notesSlide" Target="/ppt/notesSlides/notesSlide2.xml" Id="R8f41ab368c65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24ad76b31481a" /><Relationship Type="http://schemas.openxmlformats.org/officeDocument/2006/relationships/image" Target="/ppt/media/image5.png" Id="Rf2d25464b3cb48b7" /><Relationship Type="http://schemas.openxmlformats.org/officeDocument/2006/relationships/notesSlide" Target="/ppt/notesSlides/notesSlide3.xml" Id="R0a9f5a52210d4e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0ccabc60a4bc1" /><Relationship Type="http://schemas.openxmlformats.org/officeDocument/2006/relationships/image" Target="/ppt/media/image6.png" Id="R0c0e469b9dbc41bf" /><Relationship Type="http://schemas.openxmlformats.org/officeDocument/2006/relationships/notesSlide" Target="/ppt/notesSlides/notesSlide4.xml" Id="R40afa72b6ba5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6939c158824e0c" /><Relationship Type="http://schemas.openxmlformats.org/officeDocument/2006/relationships/image" Target="/ppt/media/image7.png" Id="Rabfdf6f866e84181" /><Relationship Type="http://schemas.openxmlformats.org/officeDocument/2006/relationships/notesSlide" Target="/ppt/notesSlides/notesSlide5.xml" Id="R3c793a3df03d43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83d87c11a402e" /><Relationship Type="http://schemas.openxmlformats.org/officeDocument/2006/relationships/image" Target="/ppt/media/image8.png" Id="R61e1d62b151540de" /><Relationship Type="http://schemas.openxmlformats.org/officeDocument/2006/relationships/notesSlide" Target="/ppt/notesSlides/notesSlide6.xml" Id="Rf71516239ed142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9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f20bbdd0a04fc0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27B596AF-640D-4843-ADC3-032A760000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173E69"/>
                </a:solidFill>
              </a:defRPr>
            </a:pPr>
            <a:r>
              <a:rPr sz="3225" b="1">
                <a:solidFill>
                  <a:srgbClr val="173E69"/>
                </a:solidFill>
              </a:rPr>
              <a:t>TERRAFLY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A7D27719-0892-4098-A03B-9D730D1AFD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01FDC1B-E3D4-4506-9A51-AD94A698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9525" cy="106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1">
                <a:solidFill>
                  <a:srgbClr val="FFFFFF"/>
                </a:solidFill>
              </a:defRPr>
            </a:pPr>
            <a:r>
              <a:rPr sz="100" b="1">
                <a:solidFill>
                  <a:srgbClr val="FFFFFF"/>
                </a:solidFill>
              </a:rPr>
              <a:t> </a:t>
            </a:r>
            <a:endParaRPr/>
          </a:p>
        </p:txBody>
      </p:sp>
      <p:sp>
        <p:nvSpPr>
          <p:cNvPr id="43" name="V2 title details">
            <a:extLst xmlns:a="http://schemas.openxmlformats.org/drawingml/2006/main">
              <a:ext uri="{FF2B5EF4-FFF2-40B4-BE49-F238E27FC236}">
                <a16:creationId xmlns:a16="http://schemas.microsoft.com/office/drawing/2014/main" id="{854107E0-83D0-4F06-84BB-B9E2222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4768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11111"/>
                </a:solidFill>
              </a:defRPr>
            </a:pPr>
            <a:r>
              <a:rPr sz="1388" b="1">
                <a:solidFill>
                  <a:srgbClr val="111111"/>
                </a:solidFill>
              </a:rPr>
              <a:t>PROBLEM STATEMENT  •  SIH26175</a:t>
            </a:r>
          </a:p>
          <a:p xmlns:a="http://schemas.openxmlformats.org/drawingml/2006/main">
            <a:pPr algn="l">
              <a:buNone/>
              <a:defRPr sz="1388" b="1">
                <a:solidFill>
                  <a:srgbClr val="111111"/>
                </a:solidFill>
              </a:defRPr>
            </a:pPr>
            <a:r>
              <a:rPr sz="1388" b="1">
                <a:solidFill>
                  <a:srgbClr val="111111"/>
                </a:solidFill>
              </a:rPr>
              <a:t>DepthWizard — Single-View Height Estimation and 3D Flythrough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88" b="1">
                <a:solidFill>
                  <a:srgbClr val="111111"/>
                </a:solidFill>
              </a:defRPr>
            </a:pPr>
            <a:r>
              <a:rPr sz="1388" b="1">
                <a:solidFill>
                  <a:srgbClr val="111111"/>
                </a:solidFill>
              </a:rPr>
              <a:t>ORGANIZATION  •  ISRO / Department of Space</a:t>
            </a:r>
          </a:p>
          <a:p xmlns:a="http://schemas.openxmlformats.org/drawingml/2006/main">
            <a:pPr algn="l">
              <a:buNone/>
              <a:defRPr sz="1388" b="1">
                <a:solidFill>
                  <a:srgbClr val="111111"/>
                </a:solidFill>
              </a:defRPr>
            </a:pPr>
            <a:r>
              <a:rPr sz="1388" b="1">
                <a:solidFill>
                  <a:srgbClr val="111111"/>
                </a:solidFill>
              </a:rPr>
              <a:t>CATEGORY  •  Software</a:t>
            </a:r>
          </a:p>
          <a:p xmlns:a="http://schemas.openxmlformats.org/drawingml/2006/main">
            <a:pPr algn="l">
              <a:buNone/>
              <a:defRPr sz="1388" b="1">
                <a:solidFill>
                  <a:srgbClr val="111111"/>
                </a:solidFill>
              </a:defRPr>
            </a:pPr>
            <a:r>
              <a:rPr sz="1388" b="1">
                <a:solidFill>
                  <a:srgbClr val="111111"/>
                </a:solidFill>
              </a:rPr>
              <a:t>TEAM  •  TerraFly</a:t>
            </a:r>
          </a:p>
          <a:p xmlns:a="http://schemas.openxmlformats.org/drawingml/2006/main">
            <a:pPr algn="l">
              <a:buNone/>
              <a:defRPr sz="1388" b="1">
                <a:solidFill>
                  <a:srgbClr val="111111"/>
                </a:solidFill>
              </a:defRPr>
            </a:pPr>
            <a:r>
              <a:rPr sz="1388" b="1">
                <a:solidFill>
                  <a:srgbClr val="111111"/>
                </a:solidFill>
              </a:rPr>
              <a:t>TEAM ID  •  Pending portal allotment</a:t>
            </a:r>
          </a:p>
        </p:txBody>
      </p:sp>
      <p:sp>
        <p:nvSpPr>
          <p:cNvPr id="44" name="V2 title thesis">
            <a:extLst xmlns:a="http://schemas.openxmlformats.org/drawingml/2006/main">
              <a:ext uri="{FF2B5EF4-FFF2-40B4-BE49-F238E27FC236}">
                <a16:creationId xmlns:a16="http://schemas.microsoft.com/office/drawing/2014/main" id="{274906D6-1123-408C-8BA6-A2DCFFEB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1009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ONE IMAGE  •  TWO TRUTHFUL MODES  •  ONE EXPLORABLE 3D SCENE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ae129e0ec4bb0"/>
          <a:stretch xmlns:a="http://schemas.openxmlformats.org/drawingml/2006/main"/>
        </p:blipFill>
        <p:spPr>
          <a:xfrm xmlns:a="http://schemas.openxmlformats.org/drawingml/2006/main">
            <a:off x="9841366" y="6297"/>
            <a:ext cx="2209120" cy="1122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436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1AEDE98-B0C9-4A2F-B241-72AF432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032244A8-5DA2-40EB-94DF-46BD282BD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1250" y="228600"/>
            <a:ext cx="7334250" cy="647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3E69"/>
                </a:solidFill>
              </a:defRPr>
            </a:pPr>
            <a:r>
              <a:rPr sz="2700" b="1">
                <a:solidFill>
                  <a:srgbClr val="173E69"/>
                </a:solidFill>
              </a:rPr>
              <a:t>ONE IMAGE BECOMES A DECISION-READY 3D SCENE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FEB0851E-B0CB-46E1-A2FC-9F3081AB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l">
              <a:buFont typeface="Wingdings"/>
              <a:buChar char="v"/>
              <a:defRPr sz="1650" b="1">
                <a:solidFill>
                  <a:srgbClr val="173E69"/>
                </a:solidFill>
              </a:defRPr>
            </a:pPr>
            <a:r>
              <a:rPr sz="1650" b="1" u="sng">
                <a:solidFill>
                  <a:srgbClr val="173E69"/>
                </a:solidFill>
                <a:latin typeface="Arial"/>
                <a:ea typeface="Arial"/>
                <a:cs typeface="Arial"/>
              </a:rPr>
              <a:t>TerraFly separates relative shape from metric elevation—then proves the difference.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130714-2447-4B88-B569-88D7A29AF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</a:defRPr>
            </a:pPr>
            <a:fld id="{E2598689-54C9-18A7-3A19-ED76AA08988F}" type="slidenum">
              <a:rPr sz="900" b="1">
                <a:solidFill>
                  <a:srgbClr val="FFFFFF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16FD6A0-78BA-4425-933C-55FD969BF1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FFFFFF"/>
                </a:solidFill>
              </a:defRPr>
            </a:pPr>
            <a:r>
              <a:rPr sz="900">
                <a:solidFill>
                  <a:srgbClr val="FFFFFF"/>
                </a:solidFill>
              </a:rPr>
              <a:t>TerraFly • SIH26175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TerraFly</a:t>
            </a:r>
            <a:endParaRPr/>
          </a:p>
        </p:txBody>
      </p:sp>
      <p:pic>
        <p:nvPicPr>
          <p:cNvPr id="153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c4258bae94db6"/>
          <a:stretch xmlns:a="http://schemas.openxmlformats.org/drawingml/2006/main"/>
        </p:blipFill>
        <p:spPr>
          <a:xfrm xmlns:a="http://schemas.openxmlformats.org/drawingml/2006/main">
            <a:off x="1369910" y="1952625"/>
            <a:ext cx="5585031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15367" name="V2 solution input">
            <a:extLst xmlns:a="http://schemas.openxmlformats.org/drawingml/2006/main">
              <a:ext uri="{FF2B5EF4-FFF2-40B4-BE49-F238E27FC236}">
                <a16:creationId xmlns:a16="http://schemas.microsoft.com/office/drawing/2014/main" id="{7FB2B94A-56A6-4DF9-ACBB-2ED774A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666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RGB INPUT</a:t>
            </a:r>
          </a:p>
        </p:txBody>
      </p:sp>
      <p:sp>
        <p:nvSpPr>
          <p:cNvPr id="15368" name="V2 solution depth">
            <a:extLst xmlns:a="http://schemas.openxmlformats.org/drawingml/2006/main">
              <a:ext uri="{FF2B5EF4-FFF2-40B4-BE49-F238E27FC236}">
                <a16:creationId xmlns:a16="http://schemas.microsoft.com/office/drawing/2014/main" id="{443856A5-B591-4158-86B2-E2E9A249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05375"/>
            <a:ext cx="1952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A6B7"/>
          </a:solidFill>
          <a:ln xmlns:a="http://schemas.openxmlformats.org/drawingml/2006/main" w="11430">
            <a:solidFill>
              <a:srgbClr val="1AA6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RELATIVE SURFACE</a:t>
            </a:r>
          </a:p>
        </p:txBody>
      </p:sp>
      <p:sp>
        <p:nvSpPr>
          <p:cNvPr id="15369" name="V2 solution scene">
            <a:extLst xmlns:a="http://schemas.openxmlformats.org/drawingml/2006/main">
              <a:ext uri="{FF2B5EF4-FFF2-40B4-BE49-F238E27FC236}">
                <a16:creationId xmlns:a16="http://schemas.microsoft.com/office/drawing/2014/main" id="{08C9C665-2FC4-4C6F-8A07-FC12614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05375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8A44"/>
          </a:solidFill>
          <a:ln xmlns:a="http://schemas.openxmlformats.org/drawingml/2006/main" w="11430">
            <a:solidFill>
              <a:srgbClr val="138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TEXTURED 3D</a:t>
            </a:r>
          </a:p>
        </p:txBody>
      </p:sp>
      <p:sp>
        <p:nvSpPr>
          <p:cNvPr id="15370" name="V2 solution concept label">
            <a:extLst xmlns:a="http://schemas.openxmlformats.org/drawingml/2006/main">
              <a:ext uri="{FF2B5EF4-FFF2-40B4-BE49-F238E27FC236}">
                <a16:creationId xmlns:a16="http://schemas.microsoft.com/office/drawing/2014/main" id="{3EDFF526-EE91-4C54-A097-B1E2C9D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709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i="1">
                <a:solidFill>
                  <a:srgbClr val="5B6770"/>
                </a:solidFill>
              </a:defRPr>
            </a:pPr>
            <a:r>
              <a:rPr sz="900" i="1">
                <a:solidFill>
                  <a:srgbClr val="5B6770"/>
                </a:solidFill>
              </a:rPr>
              <a:t>Concept visualization — not model output</a:t>
            </a:r>
          </a:p>
        </p:txBody>
      </p:sp>
      <p:sp>
        <p:nvSpPr>
          <p:cNvPr id="15371" name="V2 relative card">
            <a:extLst xmlns:a="http://schemas.openxmlformats.org/drawingml/2006/main">
              <a:ext uri="{FF2B5EF4-FFF2-40B4-BE49-F238E27FC236}">
                <a16:creationId xmlns:a16="http://schemas.microsoft.com/office/drawing/2014/main" id="{275237F4-E8C0-4183-9040-B6EC8D4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381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143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A3A00"/>
                </a:solidFill>
              </a:defRPr>
            </a:pPr>
            <a:r>
              <a:rPr sz="1200" b="1">
                <a:solidFill>
                  <a:srgbClr val="7A3A00"/>
                </a:solidFill>
              </a:rPr>
              <a:t>RELATIVE BY DEFAULT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7A3A00"/>
                </a:solidFill>
              </a:defRPr>
            </a:pPr>
            <a:r>
              <a:rPr sz="1200" b="1">
                <a:solidFill>
                  <a:srgbClr val="7A3A00"/>
                </a:solidFill>
              </a:rPr>
              <a:t>PNG / JPG → rDSM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7A3A00"/>
                </a:solidFill>
              </a:defRPr>
            </a:pPr>
            <a:r>
              <a:rPr sz="1200" b="1">
                <a:solidFill>
                  <a:srgbClr val="7A3A00"/>
                </a:solidFill>
              </a:rPr>
              <a:t>shape and ordering, not fake metres</a:t>
            </a:r>
          </a:p>
        </p:txBody>
      </p:sp>
      <p:sp>
        <p:nvSpPr>
          <p:cNvPr id="15372" name="V2 metric card">
            <a:extLst xmlns:a="http://schemas.openxmlformats.org/drawingml/2006/main">
              <a:ext uri="{FF2B5EF4-FFF2-40B4-BE49-F238E27FC236}">
                <a16:creationId xmlns:a16="http://schemas.microsoft.com/office/drawing/2014/main" id="{D1E43672-8A21-4EA4-98AD-A9925E1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71825"/>
            <a:ext cx="3381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138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5E2D"/>
                </a:solidFill>
              </a:defRPr>
            </a:pPr>
            <a:r>
              <a:rPr sz="1200" b="1">
                <a:solidFill>
                  <a:srgbClr val="0B5E2D"/>
                </a:solidFill>
              </a:rPr>
              <a:t>METRIC AFTER CALIBRATION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B5E2D"/>
                </a:solidFill>
              </a:defRPr>
            </a:pPr>
            <a:r>
              <a:rPr sz="1200" b="1">
                <a:solidFill>
                  <a:srgbClr val="0B5E2D"/>
                </a:solidFill>
              </a:rPr>
              <a:t>GeoTIFF + SRTM / GCP / reference DEM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B5E2D"/>
                </a:solidFill>
              </a:defRPr>
            </a:pPr>
            <a:r>
              <a:rPr sz="1200" b="1">
                <a:solidFill>
                  <a:srgbClr val="0B5E2D"/>
                </a:solidFill>
              </a:rPr>
              <a:t>→ DSM with units and residuals</a:t>
            </a:r>
          </a:p>
        </p:txBody>
      </p:sp>
      <p:sp>
        <p:nvSpPr>
          <p:cNvPr id="15373" name="V2 output card">
            <a:extLst xmlns:a="http://schemas.openxmlformats.org/drawingml/2006/main">
              <a:ext uri="{FF2B5EF4-FFF2-40B4-BE49-F238E27FC236}">
                <a16:creationId xmlns:a16="http://schemas.microsoft.com/office/drawing/2014/main" id="{AC67042C-CAAF-4B44-A453-C66FB25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24375"/>
            <a:ext cx="3381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0070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LOCAL + EXPORTABLE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3D flythrough • height / slope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GeoTIFF • OBJ / glTF • manifest</a:t>
            </a:r>
          </a:p>
        </p:txBody>
      </p:sp>
      <p:pic>
        <p:nvPicPr>
          <p:cNvPr id="153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0a90d7f5744fe"/>
          <a:stretch xmlns:a="http://schemas.openxmlformats.org/drawingml/2006/main"/>
        </p:blipFill>
        <p:spPr>
          <a:xfrm xmlns:a="http://schemas.openxmlformats.org/drawingml/2006/main">
            <a:off x="9841366" y="57097"/>
            <a:ext cx="2209120" cy="1122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449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8A6498A-5061-4ECA-914C-EE05D219E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1250" y="228600"/>
            <a:ext cx="7334250" cy="647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3E69"/>
                </a:solidFill>
              </a:defRPr>
            </a:pPr>
            <a:r>
              <a:rPr sz="2700" b="1">
                <a:solidFill>
                  <a:srgbClr val="173E69"/>
                </a:solidFill>
                <a:latin typeface="Times New Roman"/>
                <a:ea typeface="Times New Roman"/>
                <a:cs typeface="Times New Roman"/>
              </a:rPr>
              <a:t>WHAT HAPPENS AFTER THE USER PRESSES GENERATE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93A7E267-1632-42B0-A05E-E81AA42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l">
              <a:buFont typeface="Arial"/>
              <a:buChar char="•"/>
              <a:defRPr sz="1650" b="1">
                <a:solidFill>
                  <a:srgbClr val="173E69"/>
                </a:solidFill>
              </a:defRPr>
            </a:pPr>
            <a:r>
              <a:rPr sz="1650" b="1">
                <a:solidFill>
                  <a:srgbClr val="173E69"/>
                </a:solidFill>
                <a:latin typeface="Arial"/>
                <a:ea typeface="Arial"/>
                <a:cs typeface="Arial"/>
              </a:rPr>
              <a:t>A sensor-aware pipeline turns a model prediction into inspectable geospatial evidence.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348039-51BE-4A5D-B1F8-86409C6C6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</a:defRPr>
            </a:pPr>
            <a:fld id="{202359C0-8A7A-196E-DD58-8E6569619F09}" type="slidenum">
              <a:rPr sz="900" b="1">
                <a:solidFill>
                  <a:srgbClr val="FFFFFF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2AFE61A-C8A9-4209-90BD-6E3080D82B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FFFFFF"/>
                </a:solidFill>
              </a:defRPr>
            </a:pPr>
            <a:r>
              <a:rPr sz="900">
                <a:solidFill>
                  <a:srgbClr val="FFFFFF"/>
                </a:solidFill>
              </a:rPr>
              <a:t>TerraFly • SIH26175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TerraFly</a:t>
            </a:r>
            <a:endParaRPr/>
          </a:p>
        </p:txBody>
      </p:sp>
      <p:sp>
        <p:nvSpPr>
          <p:cNvPr id="17414" name="V2 tech number 0">
            <a:extLst xmlns:a="http://schemas.openxmlformats.org/drawingml/2006/main">
              <a:ext uri="{FF2B5EF4-FFF2-40B4-BE49-F238E27FC236}">
                <a16:creationId xmlns:a16="http://schemas.microsoft.com/office/drawing/2014/main" id="{E96F4AD8-40CA-4E5D-8DB8-BCA5822A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11430">
            <a:solidFill>
              <a:srgbClr val="0070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7415" name="V2 tech card 0">
            <a:extLst xmlns:a="http://schemas.openxmlformats.org/drawingml/2006/main">
              <a:ext uri="{FF2B5EF4-FFF2-40B4-BE49-F238E27FC236}">
                <a16:creationId xmlns:a16="http://schemas.microsoft.com/office/drawing/2014/main" id="{AD644EA3-CB4E-45D0-943B-96456F4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0070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VALIDATE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RGB bands • size • CRS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no-data • quality</a:t>
            </a:r>
          </a:p>
        </p:txBody>
      </p:sp>
      <p:sp>
        <p:nvSpPr>
          <p:cNvPr id="17416" name="V2 tech arrow 0">
            <a:extLst xmlns:a="http://schemas.openxmlformats.org/drawingml/2006/main">
              <a:ext uri="{FF2B5EF4-FFF2-40B4-BE49-F238E27FC236}">
                <a16:creationId xmlns:a16="http://schemas.microsoft.com/office/drawing/2014/main" id="{4B8E67ED-ED96-4C54-B83B-04520D0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4322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7" name="V2 tech number 1">
            <a:extLst xmlns:a="http://schemas.openxmlformats.org/drawingml/2006/main">
              <a:ext uri="{FF2B5EF4-FFF2-40B4-BE49-F238E27FC236}">
                <a16:creationId xmlns:a16="http://schemas.microsoft.com/office/drawing/2014/main" id="{A699316C-FB6D-421A-B302-E56E094F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025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1143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418" name="V2 tech card 1">
            <a:extLst xmlns:a="http://schemas.openxmlformats.org/drawingml/2006/main">
              <a:ext uri="{FF2B5EF4-FFF2-40B4-BE49-F238E27FC236}">
                <a16:creationId xmlns:a16="http://schemas.microsoft.com/office/drawing/2014/main" id="{5EB89FD5-8C7A-43BA-8F16-CA528CC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143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INFER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Depth Anything V2 Small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tiled CUDA / CPU</a:t>
            </a:r>
          </a:p>
        </p:txBody>
      </p:sp>
      <p:sp>
        <p:nvSpPr>
          <p:cNvPr id="17419" name="V2 tech arrow 1">
            <a:extLst xmlns:a="http://schemas.openxmlformats.org/drawingml/2006/main">
              <a:ext uri="{FF2B5EF4-FFF2-40B4-BE49-F238E27FC236}">
                <a16:creationId xmlns:a16="http://schemas.microsoft.com/office/drawing/2014/main" id="{C9777EE0-7079-40C6-928D-4B2CBA4C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4322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0" name="V2 tech number 2">
            <a:extLst xmlns:a="http://schemas.openxmlformats.org/drawingml/2006/main">
              <a:ext uri="{FF2B5EF4-FFF2-40B4-BE49-F238E27FC236}">
                <a16:creationId xmlns:a16="http://schemas.microsoft.com/office/drawing/2014/main" id="{EC955F59-00A5-454B-AE72-04C43C89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8A44"/>
          </a:solidFill>
          <a:ln xmlns:a="http://schemas.openxmlformats.org/drawingml/2006/main" w="11430">
            <a:solidFill>
              <a:srgbClr val="138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421" name="V2 tech card 2">
            <a:extLst xmlns:a="http://schemas.openxmlformats.org/drawingml/2006/main">
              <a:ext uri="{FF2B5EF4-FFF2-40B4-BE49-F238E27FC236}">
                <a16:creationId xmlns:a16="http://schemas.microsoft.com/office/drawing/2014/main" id="{73BDB2F9-AC90-4F20-8C6F-EDC3662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138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CALIBRATE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z = a·r + b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SRTM • GCP • reference</a:t>
            </a:r>
          </a:p>
        </p:txBody>
      </p:sp>
      <p:sp>
        <p:nvSpPr>
          <p:cNvPr id="17422" name="V2 tech arrow 2">
            <a:extLst xmlns:a="http://schemas.openxmlformats.org/drawingml/2006/main">
              <a:ext uri="{FF2B5EF4-FFF2-40B4-BE49-F238E27FC236}">
                <a16:creationId xmlns:a16="http://schemas.microsoft.com/office/drawing/2014/main" id="{0238A464-7821-468C-AF7D-E38E5E4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4322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3" name="V2 tech number 3">
            <a:extLst xmlns:a="http://schemas.openxmlformats.org/drawingml/2006/main">
              <a:ext uri="{FF2B5EF4-FFF2-40B4-BE49-F238E27FC236}">
                <a16:creationId xmlns:a16="http://schemas.microsoft.com/office/drawing/2014/main" id="{797E8FF6-0BA6-42B1-8110-1AEF4997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025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A6B7"/>
          </a:solidFill>
          <a:ln xmlns:a="http://schemas.openxmlformats.org/drawingml/2006/main" w="11430">
            <a:solidFill>
              <a:srgbClr val="1AA6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424" name="V2 tech card 3">
            <a:extLst xmlns:a="http://schemas.openxmlformats.org/drawingml/2006/main">
              <a:ext uri="{FF2B5EF4-FFF2-40B4-BE49-F238E27FC236}">
                <a16:creationId xmlns:a16="http://schemas.microsoft.com/office/drawing/2014/main" id="{064EC694-8903-4C76-8FE7-D52C7FD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8125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1AA6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DSM GeoTIFF • mesh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texture • LOD</a:t>
            </a:r>
          </a:p>
        </p:txBody>
      </p:sp>
      <p:sp>
        <p:nvSpPr>
          <p:cNvPr id="17425" name="V2 tech arrow 3">
            <a:extLst xmlns:a="http://schemas.openxmlformats.org/drawingml/2006/main">
              <a:ext uri="{FF2B5EF4-FFF2-40B4-BE49-F238E27FC236}">
                <a16:creationId xmlns:a16="http://schemas.microsoft.com/office/drawing/2014/main" id="{EC5B5BFF-0377-4FA5-A554-1F6BF159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6" name="V2 tech number 4">
            <a:extLst xmlns:a="http://schemas.openxmlformats.org/drawingml/2006/main">
              <a:ext uri="{FF2B5EF4-FFF2-40B4-BE49-F238E27FC236}">
                <a16:creationId xmlns:a16="http://schemas.microsoft.com/office/drawing/2014/main" id="{37F286CD-FA15-4E55-B7DA-8D232194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0025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427" name="V2 tech card 4">
            <a:extLst xmlns:a="http://schemas.openxmlformats.org/drawingml/2006/main">
              <a:ext uri="{FF2B5EF4-FFF2-40B4-BE49-F238E27FC236}">
                <a16:creationId xmlns:a16="http://schemas.microsoft.com/office/drawing/2014/main" id="{A9DB0E63-EA37-4C9A-A6D1-C206BC7A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VERIFY / EXPORT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height • slope • residuals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22313F"/>
                </a:solidFill>
              </a:defRPr>
            </a:pPr>
            <a:r>
              <a:rPr sz="1163" b="1">
                <a:solidFill>
                  <a:srgbClr val="22313F"/>
                </a:solidFill>
              </a:rPr>
              <a:t>OBJ / glTF • manifest</a:t>
            </a:r>
          </a:p>
        </p:txBody>
      </p:sp>
      <p:sp>
        <p:nvSpPr>
          <p:cNvPr id="17428" name="V2 truth title-rule">
            <a:extLst xmlns:a="http://schemas.openxmlformats.org/drawingml/2006/main">
              <a:ext uri="{FF2B5EF4-FFF2-40B4-BE49-F238E27FC236}">
                <a16:creationId xmlns:a16="http://schemas.microsoft.com/office/drawing/2014/main" id="{1DE8948C-6533-4C9B-BB18-78950495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9" name="V2 truth title">
            <a:extLst xmlns:a="http://schemas.openxmlformats.org/drawingml/2006/main">
              <a:ext uri="{FF2B5EF4-FFF2-40B4-BE49-F238E27FC236}">
                <a16:creationId xmlns:a16="http://schemas.microsoft.com/office/drawing/2014/main" id="{65843666-E8AF-4F72-A91F-C828252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TRUTH LANE</a:t>
            </a:r>
          </a:p>
        </p:txBody>
      </p:sp>
      <p:sp>
        <p:nvSpPr>
          <p:cNvPr id="17430" name="V2 truth body">
            <a:extLst xmlns:a="http://schemas.openxmlformats.org/drawingml/2006/main">
              <a:ext uri="{FF2B5EF4-FFF2-40B4-BE49-F238E27FC236}">
                <a16:creationId xmlns:a16="http://schemas.microsoft.com/office/drawing/2014/main" id="{8C0F09A1-4999-4288-82BB-390816F1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5767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Mode label  →  calibration residuals  →  input/model/output hashes  →  warnings and units</a:t>
            </a:r>
          </a:p>
        </p:txBody>
      </p:sp>
      <p:sp>
        <p:nvSpPr>
          <p:cNvPr id="17431" name="V2 stack">
            <a:extLst xmlns:a="http://schemas.openxmlformats.org/drawingml/2006/main">
              <a:ext uri="{FF2B5EF4-FFF2-40B4-BE49-F238E27FC236}">
                <a16:creationId xmlns:a16="http://schemas.microsoft.com/office/drawing/2014/main" id="{61CCA4DB-F868-4591-BB2A-D133FE1A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10287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C8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Python • PyTorch • Rasterio • FastAPI   |   React • Three.js   |   Windows • CUDA with CPU fallback</a:t>
            </a:r>
          </a:p>
        </p:txBody>
      </p:sp>
      <p:pic>
        <p:nvPicPr>
          <p:cNvPr id="174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25464b3cb48b7"/>
          <a:stretch xmlns:a="http://schemas.openxmlformats.org/drawingml/2006/main"/>
        </p:blipFill>
        <p:spPr>
          <a:xfrm xmlns:a="http://schemas.openxmlformats.org/drawingml/2006/main">
            <a:off x="9841366" y="57097"/>
            <a:ext cx="2209120" cy="1122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00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BC09734F-A138-43DE-9C9A-8B982C205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1250" y="228600"/>
            <a:ext cx="7334250" cy="647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3E69"/>
                </a:solidFill>
              </a:defRPr>
            </a:pPr>
            <a:r>
              <a:rPr sz="2700" b="1">
                <a:solidFill>
                  <a:srgbClr val="173E69"/>
                </a:solidFill>
                <a:latin typeface="Times New Roman"/>
                <a:ea typeface="Times New Roman"/>
                <a:cs typeface="Times New Roman"/>
              </a:rPr>
              <a:t>WE BUILD TO THE JUDGING RUBRIC—NOT A GENERIC AI DEMO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3137075-4149-4564-A3EE-28A5A523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l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650" b="1">
                <a:solidFill>
                  <a:srgbClr val="173E69"/>
                </a:solidFill>
              </a:defRPr>
            </a:pPr>
            <a:r>
              <a:rPr sz="1650" b="1">
                <a:solidFill>
                  <a:srgbClr val="173E69"/>
                </a:solidFill>
                <a:latin typeface="Arial"/>
                <a:ea typeface="Arial"/>
                <a:cs typeface="Arial"/>
              </a:rPr>
              <a:t>The official problem balances height truth and an intuitive, stable 3D experience.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065685-880E-4344-9678-308B6A3C77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900" b="1">
                <a:solidFill>
                  <a:srgbClr val="FFFFFF"/>
                </a:solidFill>
              </a:defRPr>
            </a:pPr>
            <a:fld id="{EFD6AB9A-5F9E-5F59-51AB-3C8734130965}" type="slidenum">
              <a:rPr sz="900" b="1" i="0" u="none" cap="none" spc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D7856C0-2F01-4E88-B249-C8DA59A3A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FFFFFF"/>
                </a:solidFill>
              </a:defRPr>
            </a:pPr>
            <a:r>
              <a:rPr sz="900" b="0" i="0" u="none" cap="none" spc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TerraFly • SIH26175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TerraFly</a:t>
            </a:r>
            <a:endParaRPr/>
          </a:p>
        </p:txBody>
      </p:sp>
      <p:sp>
        <p:nvSpPr>
          <p:cNvPr id="17414" name="V2 eval accuracy">
            <a:extLst xmlns:a="http://schemas.openxmlformats.org/drawingml/2006/main">
              <a:ext uri="{FF2B5EF4-FFF2-40B4-BE49-F238E27FC236}">
                <a16:creationId xmlns:a16="http://schemas.microsoft.com/office/drawing/2014/main" id="{28C02FB6-8EF0-4ED7-AA9F-12D1D9E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95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50%  HEIGHT TRUTH</a:t>
            </a:r>
          </a:p>
        </p:txBody>
      </p:sp>
      <p:sp>
        <p:nvSpPr>
          <p:cNvPr id="17415" name="V2 eval product">
            <a:extLst xmlns:a="http://schemas.openxmlformats.org/drawingml/2006/main">
              <a:ext uri="{FF2B5EF4-FFF2-40B4-BE49-F238E27FC236}">
                <a16:creationId xmlns:a16="http://schemas.microsoft.com/office/drawing/2014/main" id="{D2C75D09-62F6-4E3B-A5BD-9DED0C24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095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38A44"/>
          </a:solidFill>
          <a:ln xmlns:a="http://schemas.openxmlformats.org/drawingml/2006/main" w="11430">
            <a:solidFill>
              <a:srgbClr val="138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50%  PRODUCT EXPERIENCE</a:t>
            </a:r>
          </a:p>
        </p:txBody>
      </p:sp>
      <p:sp>
        <p:nvSpPr>
          <p:cNvPr id="17416" name="V2 acc metric-rule">
            <a:extLst xmlns:a="http://schemas.openxmlformats.org/drawingml/2006/main">
              <a:ext uri="{FF2B5EF4-FFF2-40B4-BE49-F238E27FC236}">
                <a16:creationId xmlns:a16="http://schemas.microsoft.com/office/drawing/2014/main" id="{3BDA5197-9A1E-44FD-ABCF-58937368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7" name="V2 acc metric">
            <a:extLst xmlns:a="http://schemas.openxmlformats.org/drawingml/2006/main">
              <a:ext uri="{FF2B5EF4-FFF2-40B4-BE49-F238E27FC236}">
                <a16:creationId xmlns:a16="http://schemas.microsoft.com/office/drawing/2014/main" id="{3BBE5E04-D98B-42D6-99C6-D330E1AA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70C0"/>
                </a:solidFill>
              </a:defRPr>
            </a:pPr>
            <a:r>
              <a:rPr sz="1350" b="1">
                <a:solidFill>
                  <a:srgbClr val="0070C0"/>
                </a:solidFill>
              </a:rPr>
              <a:t>MEASURE</a:t>
            </a:r>
          </a:p>
        </p:txBody>
      </p:sp>
      <p:sp>
        <p:nvSpPr>
          <p:cNvPr id="17418" name="V2 acc metric body">
            <a:extLst xmlns:a="http://schemas.openxmlformats.org/drawingml/2006/main">
              <a:ext uri="{FF2B5EF4-FFF2-40B4-BE49-F238E27FC236}">
                <a16:creationId xmlns:a16="http://schemas.microsoft.com/office/drawing/2014/main" id="{0EEAE6AA-7AD9-4BF3-AE2B-6820808F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RMSE • MAE • correlation</a:t>
            </a:r>
          </a:p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calibration residuals • reference alignment</a:t>
            </a:r>
          </a:p>
        </p:txBody>
      </p:sp>
      <p:sp>
        <p:nvSpPr>
          <p:cNvPr id="17419" name="V2 acc scenes-rule">
            <a:extLst xmlns:a="http://schemas.openxmlformats.org/drawingml/2006/main">
              <a:ext uri="{FF2B5EF4-FFF2-40B4-BE49-F238E27FC236}">
                <a16:creationId xmlns:a16="http://schemas.microsoft.com/office/drawing/2014/main" id="{42616F81-167E-4D45-A204-4140B61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0" name="V2 acc scenes">
            <a:extLst xmlns:a="http://schemas.openxmlformats.org/drawingml/2006/main">
              <a:ext uri="{FF2B5EF4-FFF2-40B4-BE49-F238E27FC236}">
                <a16:creationId xmlns:a16="http://schemas.microsoft.com/office/drawing/2014/main" id="{8E09B2B9-4858-4F15-BB19-F68E5C7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8220"/>
                </a:solidFill>
              </a:defRPr>
            </a:pPr>
            <a:r>
              <a:rPr sz="1350" b="1">
                <a:solidFill>
                  <a:srgbClr val="F58220"/>
                </a:solidFill>
              </a:rPr>
              <a:t>STRESS TEST</a:t>
            </a:r>
          </a:p>
        </p:txBody>
      </p:sp>
      <p:sp>
        <p:nvSpPr>
          <p:cNvPr id="17421" name="V2 acc scenes body">
            <a:extLst xmlns:a="http://schemas.openxmlformats.org/drawingml/2006/main">
              <a:ext uri="{FF2B5EF4-FFF2-40B4-BE49-F238E27FC236}">
                <a16:creationId xmlns:a16="http://schemas.microsoft.com/office/drawing/2014/main" id="{9A152ADA-B660-4825-8BB0-F0C4495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Urban • sparse settlement • hilly • forest</a:t>
            </a:r>
          </a:p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plus one controlled poor-input case</a:t>
            </a:r>
          </a:p>
        </p:txBody>
      </p:sp>
      <p:sp>
        <p:nvSpPr>
          <p:cNvPr id="17422" name="V2 ux see-rule">
            <a:extLst xmlns:a="http://schemas.openxmlformats.org/drawingml/2006/main">
              <a:ext uri="{FF2B5EF4-FFF2-40B4-BE49-F238E27FC236}">
                <a16:creationId xmlns:a16="http://schemas.microsoft.com/office/drawing/2014/main" id="{1CB20501-78E1-4C34-A9ED-17FF3785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3" name="V2 ux see">
            <a:extLst xmlns:a="http://schemas.openxmlformats.org/drawingml/2006/main">
              <a:ext uri="{FF2B5EF4-FFF2-40B4-BE49-F238E27FC236}">
                <a16:creationId xmlns:a16="http://schemas.microsoft.com/office/drawing/2014/main" id="{6B298A41-4F59-49B1-B733-CCA173D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0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8A44"/>
                </a:solidFill>
              </a:defRPr>
            </a:pPr>
            <a:r>
              <a:rPr sz="1350" b="1">
                <a:solidFill>
                  <a:srgbClr val="138A44"/>
                </a:solidFill>
              </a:rPr>
              <a:t>JUDGES SEE</a:t>
            </a:r>
          </a:p>
        </p:txBody>
      </p:sp>
      <p:sp>
        <p:nvSpPr>
          <p:cNvPr id="17424" name="V2 ux see body">
            <a:extLst xmlns:a="http://schemas.openxmlformats.org/drawingml/2006/main">
              <a:ext uri="{FF2B5EF4-FFF2-40B4-BE49-F238E27FC236}">
                <a16:creationId xmlns:a16="http://schemas.microsoft.com/office/drawing/2014/main" id="{8893E727-7DD7-45FF-B12D-7803EC0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9562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Textured 3D • orbit / first-person camera</a:t>
            </a:r>
          </a:p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height and slope inspection • clean export</a:t>
            </a:r>
          </a:p>
        </p:txBody>
      </p:sp>
      <p:sp>
        <p:nvSpPr>
          <p:cNvPr id="17425" name="V2 ux prove-rule">
            <a:extLst xmlns:a="http://schemas.openxmlformats.org/drawingml/2006/main">
              <a:ext uri="{FF2B5EF4-FFF2-40B4-BE49-F238E27FC236}">
                <a16:creationId xmlns:a16="http://schemas.microsoft.com/office/drawing/2014/main" id="{298F5583-E37B-452F-A311-D56248AA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6" name="V2 ux prove">
            <a:extLst xmlns:a="http://schemas.openxmlformats.org/drawingml/2006/main">
              <a:ext uri="{FF2B5EF4-FFF2-40B4-BE49-F238E27FC236}">
                <a16:creationId xmlns:a16="http://schemas.microsoft.com/office/drawing/2014/main" id="{B06FC67D-4A2A-475E-AE28-2AC3F057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33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A6B7"/>
                </a:solidFill>
              </a:defRPr>
            </a:pPr>
            <a:r>
              <a:rPr sz="1350" b="1">
                <a:solidFill>
                  <a:srgbClr val="1AA6B7"/>
                </a:solidFill>
              </a:rPr>
              <a:t>ROBUSTNESS</a:t>
            </a:r>
          </a:p>
        </p:txBody>
      </p:sp>
      <p:sp>
        <p:nvSpPr>
          <p:cNvPr id="17427" name="V2 ux prove body">
            <a:extLst xmlns:a="http://schemas.openxmlformats.org/drawingml/2006/main">
              <a:ext uri="{FF2B5EF4-FFF2-40B4-BE49-F238E27FC236}">
                <a16:creationId xmlns:a16="http://schemas.microsoft.com/office/drawing/2014/main" id="{76CD8655-E1D5-4CD0-921A-044F3D73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8 GB target • tiled inference • OOM recovery</a:t>
            </a:r>
          </a:p>
          <a:p xmlns:a="http://schemas.openxmlformats.org/drawingml/2006/main">
            <a:pPr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CPU fallback • offline restart</a:t>
            </a:r>
          </a:p>
        </p:txBody>
      </p:sp>
      <p:sp>
        <p:nvSpPr>
          <p:cNvPr id="17428" name="V2 boundary">
            <a:extLst xmlns:a="http://schemas.openxmlformats.org/drawingml/2006/main">
              <a:ext uri="{FF2B5EF4-FFF2-40B4-BE49-F238E27FC236}">
                <a16:creationId xmlns:a16="http://schemas.microsoft.com/office/drawing/2014/main" id="{92B26579-5C23-4ADC-8BAD-D18198E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81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B42318"/>
                </a:solidFill>
              </a:defRPr>
            </a:pPr>
            <a:r>
              <a:rPr sz="1163" b="1">
                <a:solidFill>
                  <a:srgbClr val="B42318"/>
                </a:solidFill>
              </a:rPr>
              <a:t>RESPONSIBLE BOUNDARY  Rapid decision-support surface—not a replacement for survey-grade LiDAR.</a:t>
            </a:r>
          </a:p>
        </p:txBody>
      </p:sp>
      <p:pic>
        <p:nvPicPr>
          <p:cNvPr id="174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e469b9dbc41bf"/>
          <a:stretch xmlns:a="http://schemas.openxmlformats.org/drawingml/2006/main"/>
        </p:blipFill>
        <p:spPr>
          <a:xfrm xmlns:a="http://schemas.openxmlformats.org/drawingml/2006/main">
            <a:off x="9841366" y="57097"/>
            <a:ext cx="2209120" cy="1122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C16D6489-A4BE-40D4-B997-77DD9F6C1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1250" y="228600"/>
            <a:ext cx="7334250" cy="647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3E69"/>
                </a:solidFill>
              </a:defRPr>
            </a:pPr>
            <a:r>
              <a:rPr sz="2700" b="1">
                <a:solidFill>
                  <a:srgbClr val="173E69"/>
                </a:solidFill>
                <a:latin typeface="Times New Roman"/>
                <a:ea typeface="Times New Roman"/>
                <a:cs typeface="Times New Roman"/>
              </a:rPr>
              <a:t>THE GAP IS NOT ‘NO IMAGERY’—IT IS UNEVEN, HARD-TO-USE 3D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884E9A28-4FCE-4AC5-8736-C74034E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l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650" b="1">
                <a:solidFill>
                  <a:srgbClr val="173E69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173E69"/>
                </a:solidFill>
                <a:latin typeface="Arial"/>
                <a:ea typeface="Arial"/>
                <a:cs typeface="Arial"/>
              </a:rPr>
              <a:t>TerraFly turns authorized imagery into local, auditable decision support.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030B8F-D390-45AE-93F6-36FFC576AB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900" b="1">
                <a:solidFill>
                  <a:srgbClr val="FFFFFF"/>
                </a:solidFill>
              </a:defRPr>
            </a:pPr>
            <a:fld id="{EE5B3003-2C54-13C6-9832-7637201064DE}" type="slidenum">
              <a:rPr sz="900" b="1" i="0" u="none" cap="none" spc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2878182-75C3-4886-8D73-79E20F698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FFFFFF"/>
                </a:solidFill>
              </a:defRPr>
            </a:pPr>
            <a:r>
              <a:rPr sz="900" b="0" i="0" u="none" cap="none" spc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TerraFly • SIH26175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TerraFly</a:t>
            </a:r>
            <a:endParaRPr/>
          </a:p>
        </p:txBody>
      </p:sp>
      <p:sp>
        <p:nvSpPr>
          <p:cNvPr id="17414" name="V2 impact cause">
            <a:extLst xmlns:a="http://schemas.openxmlformats.org/drawingml/2006/main">
              <a:ext uri="{FF2B5EF4-FFF2-40B4-BE49-F238E27FC236}">
                <a16:creationId xmlns:a16="http://schemas.microsoft.com/office/drawing/2014/main" id="{4C0CCE6A-CF31-47AC-BD80-1FDF746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1143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GAP</a:t>
            </a:r>
          </a:p>
        </p:txBody>
      </p:sp>
      <p:sp>
        <p:nvSpPr>
          <p:cNvPr id="17415" name="V2 impact response">
            <a:extLst xmlns:a="http://schemas.openxmlformats.org/drawingml/2006/main">
              <a:ext uri="{FF2B5EF4-FFF2-40B4-BE49-F238E27FC236}">
                <a16:creationId xmlns:a16="http://schemas.microsoft.com/office/drawing/2014/main" id="{516E1B4B-4052-4D23-AD96-65675A99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38A44"/>
          </a:solidFill>
          <a:ln xmlns:a="http://schemas.openxmlformats.org/drawingml/2006/main" w="11430">
            <a:solidFill>
              <a:srgbClr val="138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TERRAFLY</a:t>
            </a:r>
          </a:p>
        </p:txBody>
      </p:sp>
      <p:sp>
        <p:nvSpPr>
          <p:cNvPr id="17416" name="V2 impact outcome">
            <a:extLst xmlns:a="http://schemas.openxmlformats.org/drawingml/2006/main">
              <a:ext uri="{FF2B5EF4-FFF2-40B4-BE49-F238E27FC236}">
                <a16:creationId xmlns:a16="http://schemas.microsoft.com/office/drawing/2014/main" id="{95C4B79F-C1A8-40F0-BB52-BC0FB2D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 VALUE</a:t>
            </a:r>
          </a:p>
        </p:txBody>
      </p:sp>
      <p:sp>
        <p:nvSpPr>
          <p:cNvPr id="17417" name="V2 impact arrow 1">
            <a:extLst xmlns:a="http://schemas.openxmlformats.org/drawingml/2006/main">
              <a:ext uri="{FF2B5EF4-FFF2-40B4-BE49-F238E27FC236}">
                <a16:creationId xmlns:a16="http://schemas.microsoft.com/office/drawing/2014/main" id="{E2C2A9AA-CF06-4B3F-8AE4-112572BF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8" name="V2 impact arrow 2">
            <a:extLst xmlns:a="http://schemas.openxmlformats.org/drawingml/2006/main">
              <a:ext uri="{FF2B5EF4-FFF2-40B4-BE49-F238E27FC236}">
                <a16:creationId xmlns:a16="http://schemas.microsoft.com/office/drawing/2014/main" id="{6A562AF4-2957-47B0-AC03-6D783FCA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432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9" name="V2 impact cause body">
            <a:extLst xmlns:a="http://schemas.openxmlformats.org/drawingml/2006/main">
              <a:ext uri="{FF2B5EF4-FFF2-40B4-BE49-F238E27FC236}">
                <a16:creationId xmlns:a16="http://schemas.microsoft.com/office/drawing/2014/main" id="{07BC5BDD-70D1-419F-BC9B-81897826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809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Public 3D coverage is uneven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Detailed 3D needs special collection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Stereo / LiDAR may be unavailable or costly</a:t>
            </a:r>
          </a:p>
        </p:txBody>
      </p:sp>
      <p:sp>
        <p:nvSpPr>
          <p:cNvPr id="17420" name="V2 impact response body">
            <a:extLst xmlns:a="http://schemas.openxmlformats.org/drawingml/2006/main">
              <a:ext uri="{FF2B5EF4-FFF2-40B4-BE49-F238E27FC236}">
                <a16:creationId xmlns:a16="http://schemas.microsoft.com/office/drawing/2014/main" id="{10F85045-59CE-4B77-83FF-6DC1925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2809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Relative and metric modes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On-premise / offline-first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Auditable GeoTIFF + 3D assets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No invented input detail</a:t>
            </a:r>
          </a:p>
        </p:txBody>
      </p:sp>
      <p:sp>
        <p:nvSpPr>
          <p:cNvPr id="17421" name="V2 impact outcome body">
            <a:extLst xmlns:a="http://schemas.openxmlformats.org/drawingml/2006/main">
              <a:ext uri="{FF2B5EF4-FFF2-40B4-BE49-F238E27FC236}">
                <a16:creationId xmlns:a16="http://schemas.microsoft.com/office/drawing/2014/main" id="{8104B938-9A09-43BD-AC48-2D08453F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809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Disaster first-look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Urban / infrastructure screening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Terrain 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313F"/>
                </a:solidFill>
              </a:defRPr>
            </a:pPr>
            <a:r>
              <a:rPr sz="1275" b="1">
                <a:solidFill>
                  <a:srgbClr val="22313F"/>
                </a:solidFill>
              </a:rPr>
              <a:t>Reusable analysis assets</a:t>
            </a:r>
          </a:p>
        </p:txBody>
      </p:sp>
      <p:sp>
        <p:nvSpPr>
          <p:cNvPr id="17422" name="V2 users">
            <a:extLst xmlns:a="http://schemas.openxmlformats.org/drawingml/2006/main">
              <a:ext uri="{FF2B5EF4-FFF2-40B4-BE49-F238E27FC236}">
                <a16:creationId xmlns:a16="http://schemas.microsoft.com/office/drawing/2014/main" id="{BD281DB0-9474-4FE3-AA66-1D715D35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00625"/>
            <a:ext cx="1000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0070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173E69"/>
                </a:solidFill>
              </a:defRPr>
            </a:pPr>
            <a:r>
              <a:rPr sz="1163" b="1">
                <a:solidFill>
                  <a:srgbClr val="173E69"/>
                </a:solidFill>
              </a:rPr>
              <a:t>USERS  ISRO / NRSC analysts (potential integration) • disaster teams • planners • researchers</a:t>
            </a:r>
          </a:p>
        </p:txBody>
      </p:sp>
      <p:sp>
        <p:nvSpPr>
          <p:cNvPr id="17423" name="V2 impact note">
            <a:extLst xmlns:a="http://schemas.openxmlformats.org/drawingml/2006/main">
              <a:ext uri="{FF2B5EF4-FFF2-40B4-BE49-F238E27FC236}">
                <a16:creationId xmlns:a16="http://schemas.microsoft.com/office/drawing/2014/main" id="{722D2F16-DC1A-4FC5-886B-5A8730D8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i="1">
                <a:solidFill>
                  <a:srgbClr val="5B6770"/>
                </a:solidFill>
              </a:defRPr>
            </a:pPr>
            <a:r>
              <a:rPr sz="938" i="1">
                <a:solidFill>
                  <a:srgbClr val="5B6770"/>
                </a:solidFill>
              </a:rPr>
              <a:t>Accuracy depends on input resolution, scene conditions and calibration quality. India does not simply ‘ban good imagery’; collection, licensing, permissions and provider coverage all matter.</a:t>
            </a:r>
          </a:p>
        </p:txBody>
      </p:sp>
      <p:pic>
        <p:nvPicPr>
          <p:cNvPr id="174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df6f866e84181"/>
          <a:stretch xmlns:a="http://schemas.openxmlformats.org/drawingml/2006/main"/>
        </p:blipFill>
        <p:spPr>
          <a:xfrm xmlns:a="http://schemas.openxmlformats.org/drawingml/2006/main">
            <a:off x="9841366" y="57097"/>
            <a:ext cx="2209120" cy="1122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7071A8B-6801-4353-AF6C-0AF42D731F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1250" y="228600"/>
            <a:ext cx="7334250" cy="647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3E69"/>
                </a:solidFill>
              </a:defRPr>
            </a:pPr>
            <a:r>
              <a:rPr sz="2700" b="1">
                <a:solidFill>
                  <a:srgbClr val="173E69"/>
                </a:solidFill>
                <a:latin typeface="Times New Roman"/>
                <a:ea typeface="Times New Roman"/>
                <a:cs typeface="Times New Roman"/>
              </a:rPr>
              <a:t>A CLAIM ENTERS THE PPT ONLY AFTER IT HAS EVIDENCE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A77EF1D-23D9-4F4F-AA22-2138CD81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l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650" b="1">
                <a:solidFill>
                  <a:srgbClr val="173E69"/>
                </a:solidFill>
              </a:defRPr>
            </a:pPr>
            <a:r>
              <a:rPr sz="1650" b="1">
                <a:solidFill>
                  <a:srgbClr val="173E69"/>
                </a:solidFill>
                <a:latin typeface="Arial"/>
                <a:ea typeface="Arial"/>
                <a:cs typeface="Arial"/>
              </a:rPr>
              <a:t>Our last slide is the proof plan; the next screen is the working product.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7DA485-2D38-49DE-A065-62227F882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900" b="1">
                <a:solidFill>
                  <a:srgbClr val="FFFFFF"/>
                </a:solidFill>
              </a:defRPr>
            </a:pPr>
            <a:fld id="{8C630A04-5A25-9E0C-9436-126091DB86B3}" type="slidenum">
              <a:rPr sz="900" b="1" i="0" u="none" cap="none" spc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7037FE1-E816-4272-A5CB-0BE8282716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FFFFFF"/>
                </a:solidFill>
              </a:defRPr>
            </a:pPr>
            <a:r>
              <a:rPr sz="900" b="0" i="0" u="none" cap="none" spc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TerraFly • SIH26175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E69"/>
                </a:solidFill>
              </a:defRPr>
            </a:pPr>
            <a:r>
              <a:rPr sz="1200" b="1">
                <a:solidFill>
                  <a:srgbClr val="173E69"/>
                </a:solidFill>
              </a:rPr>
              <a:t>TerraFly</a:t>
            </a:r>
            <a:endParaRPr/>
          </a:p>
        </p:txBody>
      </p:sp>
      <p:sp>
        <p:nvSpPr>
          <p:cNvPr id="17414" name="V2 proof header 0">
            <a:extLst xmlns:a="http://schemas.openxmlformats.org/drawingml/2006/main">
              <a:ext uri="{FF2B5EF4-FFF2-40B4-BE49-F238E27FC236}">
                <a16:creationId xmlns:a16="http://schemas.microsoft.com/office/drawing/2014/main" id="{881C27D8-18F4-48A2-A83A-DE9B9967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1143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17415" name="V2 proof list 0">
            <a:extLst xmlns:a="http://schemas.openxmlformats.org/drawingml/2006/main">
              <a:ext uri="{FF2B5EF4-FFF2-40B4-BE49-F238E27FC236}">
                <a16:creationId xmlns:a16="http://schemas.microsoft.com/office/drawing/2014/main" id="{441B5068-D9AE-4F1E-BFA7-EA1D4C63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71750"/>
            <a:ext cx="304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Wi-Fi 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Upload and Generate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Relative / metric label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2D + textured 3D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Inspect and export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Controlled failure</a:t>
            </a:r>
          </a:p>
        </p:txBody>
      </p:sp>
      <p:sp>
        <p:nvSpPr>
          <p:cNvPr id="17416" name="V2 proof header 1">
            <a:extLst xmlns:a="http://schemas.openxmlformats.org/drawingml/2006/main">
              <a:ext uri="{FF2B5EF4-FFF2-40B4-BE49-F238E27FC236}">
                <a16:creationId xmlns:a16="http://schemas.microsoft.com/office/drawing/2014/main" id="{80F5324E-65B5-4F4D-BC01-F527B7DB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38A44"/>
          </a:solidFill>
          <a:ln xmlns:a="http://schemas.openxmlformats.org/drawingml/2006/main" w="11430">
            <a:solidFill>
              <a:srgbClr val="138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 PACK</a:t>
            </a:r>
          </a:p>
        </p:txBody>
      </p:sp>
      <p:sp>
        <p:nvSpPr>
          <p:cNvPr id="17417" name="V2 proof list 1">
            <a:extLst xmlns:a="http://schemas.openxmlformats.org/drawingml/2006/main">
              <a:ext uri="{FF2B5EF4-FFF2-40B4-BE49-F238E27FC236}">
                <a16:creationId xmlns:a16="http://schemas.microsoft.com/office/drawing/2014/main" id="{998CDD37-168C-4F90-A99C-E7DAF05D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304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RMSE / MAE / correlation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Calibration residuals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Urban / forest / hill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Runtime + VRAM 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Input and artifact hashes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Reproducible test report</a:t>
            </a:r>
          </a:p>
        </p:txBody>
      </p:sp>
      <p:sp>
        <p:nvSpPr>
          <p:cNvPr id="17418" name="V2 proof header 2">
            <a:extLst xmlns:a="http://schemas.openxmlformats.org/drawingml/2006/main">
              <a:ext uri="{FF2B5EF4-FFF2-40B4-BE49-F238E27FC236}">
                <a16:creationId xmlns:a16="http://schemas.microsoft.com/office/drawing/2014/main" id="{FA84CF34-D8B9-4109-8EC2-1C06EF35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RESEARCH BASE</a:t>
            </a:r>
          </a:p>
        </p:txBody>
      </p:sp>
      <p:sp>
        <p:nvSpPr>
          <p:cNvPr id="17419" name="V2 proof list 2">
            <a:extLst xmlns:a="http://schemas.openxmlformats.org/drawingml/2006/main">
              <a:ext uri="{FF2B5EF4-FFF2-40B4-BE49-F238E27FC236}">
                <a16:creationId xmlns:a16="http://schemas.microsoft.com/office/drawing/2014/main" id="{68EEA5BF-8626-4378-9347-FFA3F696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71750"/>
            <a:ext cx="304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Official PS + SAC repo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Depth Anything 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SRTM / NASADEM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India geospatial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Google imagery explanation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40" b="1">
                <a:solidFill>
                  <a:srgbClr val="22313F"/>
                </a:solidFill>
              </a:defRPr>
            </a:pPr>
            <a:r>
              <a:rPr sz="1140" b="1">
                <a:solidFill>
                  <a:srgbClr val="22313F"/>
                </a:solidFill>
              </a:rPr>
              <a:t>•  ISRO DMS use cases</a:t>
            </a:r>
          </a:p>
        </p:txBody>
      </p:sp>
      <p:sp>
        <p:nvSpPr>
          <p:cNvPr id="17420" name="V2 closing">
            <a:extLst xmlns:a="http://schemas.openxmlformats.org/drawingml/2006/main">
              <a:ext uri="{FF2B5EF4-FFF2-40B4-BE49-F238E27FC236}">
                <a16:creationId xmlns:a16="http://schemas.microsoft.com/office/drawing/2014/main" id="{F4CA3774-F3A4-44D3-A95B-B3DE48F9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10001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11430">
            <a:solidFill>
              <a:srgbClr val="173E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SHOW THE WORKING SYSTEM  •  MEASURE IT  •  ADMIT ITS BOUNDARY</a:t>
            </a:r>
          </a:p>
        </p:txBody>
      </p:sp>
      <p:pic>
        <p:nvPicPr>
          <p:cNvPr id="174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1d62b151540de"/>
          <a:stretch xmlns:a="http://schemas.openxmlformats.org/drawingml/2006/main"/>
        </p:blipFill>
        <p:spPr>
          <a:xfrm xmlns:a="http://schemas.openxmlformats.org/drawingml/2006/main">
            <a:off x="9841366" y="57097"/>
            <a:ext cx="2209120" cy="1122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2026-08-25T08:58:40.5970000Z</dcterms:created>
  <dcterms:modified xsi:type="dcterms:W3CDTF">2026-08-25T08:58:40.5970000Z</dcterms:modified>
</coreProperties>
</file>